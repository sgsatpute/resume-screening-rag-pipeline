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d0258b91974c72" /><Relationship Type="http://schemas.openxmlformats.org/officeDocument/2006/relationships/extended-properties" Target="/docProps/app.xml" Id="R1114f7aa559a471c" /><Relationship Type="http://schemas.openxmlformats.org/officeDocument/2006/relationships/officeDocument" Target="/ppt/presentation.xml" Id="Rce86a1861ea5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1b6b5e8294de3"/>
  </p:sldMasterIdLst>
  <p:notesMasterIdLst>
    <p:notesMasterId xmlns:r="http://schemas.openxmlformats.org/officeDocument/2006/relationships" r:id="R2ba9a9656b474a4d"/>
  </p:notesMasterIdLst>
  <p:sldIdLst>
    <p:sldId xmlns:r="http://schemas.openxmlformats.org/officeDocument/2006/relationships" id="256" r:id="R1160dac93c8846b5"/>
    <p:sldId xmlns:r="http://schemas.openxmlformats.org/officeDocument/2006/relationships" id="257" r:id="R01e7394d5f7a4a5a"/>
    <p:sldId xmlns:r="http://schemas.openxmlformats.org/officeDocument/2006/relationships" id="258" r:id="R3829e30b016240fc"/>
    <p:sldId xmlns:r="http://schemas.openxmlformats.org/officeDocument/2006/relationships" id="259" r:id="R0456b91e671642b2"/>
    <p:sldId xmlns:r="http://schemas.openxmlformats.org/officeDocument/2006/relationships" id="260" r:id="R8ebc5fdb32484b7f"/>
    <p:sldId xmlns:r="http://schemas.openxmlformats.org/officeDocument/2006/relationships" id="261" r:id="R2f4cf94cc903408c"/>
    <p:sldId xmlns:r="http://schemas.openxmlformats.org/officeDocument/2006/relationships" id="262" r:id="R8c6ee7376f59443d"/>
    <p:sldId xmlns:r="http://schemas.openxmlformats.org/officeDocument/2006/relationships" id="263" r:id="Ra4ced3c635f245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ef8567cd443f3" /><Relationship Type="http://schemas.openxmlformats.org/officeDocument/2006/relationships/slideMaster" Target="/ppt/slideMasters/slideMaster1.xml" Id="R7f21b6b5e8294de3" /><Relationship Type="http://schemas.openxmlformats.org/officeDocument/2006/relationships/notesMaster" Target="/ppt/notesMasters/notesMaster1.xml" Id="R2ba9a9656b474a4d" /><Relationship Type="http://schemas.openxmlformats.org/officeDocument/2006/relationships/presProps" Target="/ppt/presProps.xml" Id="R5f92e1c6368a4aeb" /><Relationship Type="http://schemas.openxmlformats.org/officeDocument/2006/relationships/viewProps" Target="/ppt/viewProps.xml" Id="R02332a1d1cd0415c" /><Relationship Type="http://schemas.openxmlformats.org/officeDocument/2006/relationships/tableStyles" Target="/ppt/tableStyles.xml" Id="Rb8c979c98a6d4e3b" /><Relationship Type="http://schemas.openxmlformats.org/officeDocument/2006/relationships/slide" Target="/ppt/slides/slide1.xml" Id="R1160dac93c8846b5" /><Relationship Type="http://schemas.openxmlformats.org/officeDocument/2006/relationships/slide" Target="/ppt/slides/slide2.xml" Id="R01e7394d5f7a4a5a" /><Relationship Type="http://schemas.openxmlformats.org/officeDocument/2006/relationships/slide" Target="/ppt/slides/slide3.xml" Id="R3829e30b016240fc" /><Relationship Type="http://schemas.openxmlformats.org/officeDocument/2006/relationships/slide" Target="/ppt/slides/slide4.xml" Id="R0456b91e671642b2" /><Relationship Type="http://schemas.openxmlformats.org/officeDocument/2006/relationships/slide" Target="/ppt/slides/slide5.xml" Id="R8ebc5fdb32484b7f" /><Relationship Type="http://schemas.openxmlformats.org/officeDocument/2006/relationships/slide" Target="/ppt/slides/slide6.xml" Id="R2f4cf94cc903408c" /><Relationship Type="http://schemas.openxmlformats.org/officeDocument/2006/relationships/slide" Target="/ppt/slides/slide7.xml" Id="R8c6ee7376f59443d" /><Relationship Type="http://schemas.openxmlformats.org/officeDocument/2006/relationships/slide" Target="/ppt/slides/slide8.xml" Id="Ra4ced3c635f2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f2a9dc451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23452df0d41dc" /><Relationship Type="http://schemas.openxmlformats.org/officeDocument/2006/relationships/notesMaster" Target="/ppt/notesMasters/notesMaster1.xml" Id="R50de7419c500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07964587648aa" /><Relationship Type="http://schemas.openxmlformats.org/officeDocument/2006/relationships/notesMaster" Target="/ppt/notesMasters/notesMaster1.xml" Id="Ree1af3cb8edb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91d87b431d48a4" /><Relationship Type="http://schemas.openxmlformats.org/officeDocument/2006/relationships/notesMaster" Target="/ppt/notesMasters/notesMaster1.xml" Id="R517e4014659246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ebdbe5ecc4ae8" /><Relationship Type="http://schemas.openxmlformats.org/officeDocument/2006/relationships/notesMaster" Target="/ppt/notesMasters/notesMaster1.xml" Id="Rd748d925c20f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eddda51434402" /><Relationship Type="http://schemas.openxmlformats.org/officeDocument/2006/relationships/notesMaster" Target="/ppt/notesMasters/notesMaster1.xml" Id="Ra642a87157ac4d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e7567445f41e6" /><Relationship Type="http://schemas.openxmlformats.org/officeDocument/2006/relationships/notesMaster" Target="/ppt/notesMasters/notesMaster1.xml" Id="R2e529be1b8ce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0d0972ef14385" /><Relationship Type="http://schemas.openxmlformats.org/officeDocument/2006/relationships/notesMaster" Target="/ppt/notesMasters/notesMaster1.xml" Id="R6c590a3d9b8d4f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64dd9f7ab44ff" /><Relationship Type="http://schemas.openxmlformats.org/officeDocument/2006/relationships/notesMaster" Target="/ppt/notesMasters/notesMaster1.xml" Id="R9231a542fa9148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cf217c693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560bd84f84070" /><Relationship Type="http://schemas.openxmlformats.org/officeDocument/2006/relationships/slideLayout" Target="/ppt/slideLayouts/slideLayout1.xml" Id="R27e391fa9f0149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e391fa9f0149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8512cd1f544b1" /><Relationship Type="http://schemas.openxmlformats.org/officeDocument/2006/relationships/notesSlide" Target="/ppt/notesSlides/notesSlide1.xml" Id="Rb2c909b406b7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b1549ee084051" /><Relationship Type="http://schemas.openxmlformats.org/officeDocument/2006/relationships/notesSlide" Target="/ppt/notesSlides/notesSlide2.xml" Id="R284f9492bc00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a0dc63ca843cb" /><Relationship Type="http://schemas.openxmlformats.org/officeDocument/2006/relationships/notesSlide" Target="/ppt/notesSlides/notesSlide3.xml" Id="Re74f7dae8ddf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ceb74c94e416c" /><Relationship Type="http://schemas.openxmlformats.org/officeDocument/2006/relationships/notesSlide" Target="/ppt/notesSlides/notesSlide4.xml" Id="R5326442acb35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f8da5396e4c7c" /><Relationship Type="http://schemas.openxmlformats.org/officeDocument/2006/relationships/notesSlide" Target="/ppt/notesSlides/notesSlide5.xml" Id="R519b52958f72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c02b958754103" /><Relationship Type="http://schemas.openxmlformats.org/officeDocument/2006/relationships/notesSlide" Target="/ppt/notesSlides/notesSlide6.xml" Id="R6a6465b2eb7f48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da1bb4ea744b8" /><Relationship Type="http://schemas.openxmlformats.org/officeDocument/2006/relationships/notesSlide" Target="/ppt/notesSlides/notesSlide7.xml" Id="R247d3df8f660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d3c32ce2946dc" /><Relationship Type="http://schemas.openxmlformats.org/officeDocument/2006/relationships/notesSlide" Target="/ppt/notesSlides/notesSlide8.xml" Id="R633a3229f1b144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9A6ED-2EB5-4CDE-9667-A2EB171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8BF6B-55FD-4A6E-A3E5-15FA55A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53876-9BCF-4121-904A-00D3D741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t>INTELLIGENT CANDIDATE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B3639-2D18-40C9-BCBA-6DC9DCC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Resume Screening RAG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CCA6E-732A-4F96-A794-1BAB66FC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Semantic resume retrieval, RAG Fusion, deterministic scoring, and grounded candidate explanations for hiring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076D1-6907-4A09-B919-D6404AA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t>Team Name: ResumeRAG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A4ABC-80C6-41FC-9FA8-FFC82BA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t>Team Leader: Saurav Satpute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218E-7C25-4C6C-BC6E-C9616ADC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GitHub: github.com/sgsatpute/Resume-Screening-RAG-Pipeline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E5118-DB10-41C1-B628-66FD673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287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28EE7-7ADD-43BD-8C4F-72D72321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620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19379-DB88-420F-B69B-DD38A11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430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Resume 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90C7D-79B9-45C3-B7F6-466DA3D6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synthetic resumes indexed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4E50D-FC62-42A6-991B-6AB7F9AD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287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3C844-F608-4188-A0CC-73E307BF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620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500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E613B-A4A0-4921-99C9-8956F68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430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Test jobs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C3B2F-AFBF-4F7D-A722-C31443D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sampled JDs evaluated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52E28-5DA9-4469-B5EF-1921089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68758-904D-4CBF-B1FB-A5D3CB28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0.945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CE555-4383-48A0-B429-A62767F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Faithfulness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34482-3DFD-4A27-A755-25FB1F4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GPT-4 + RAG Fusion 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C2A8-A364-42FA-850F-92B28392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C3D6A-53D8-4A9C-B478-9AD823C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0.843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3D6C3-9719-4481-8115-632DCAFE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Context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64229-2AFF-4BB0-AE37-1A420B4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retrieved evidence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21862-E6D2-4E2F-BF73-62D68AD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Submission deck and ranked output generated from the local repository state.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6E3A0-A6D7-4FFB-89A9-A90DCA8C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README, demo code, local evaluation CSVs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09123-92B0-452D-8D08-D12164C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1500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91354-E467-4ECE-9671-409085B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DBB09C5-9407-41FF-8B6D-4B4AF747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CBFD41D-5C9B-46D3-8AD2-EF6A27B8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PROBLEM AND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49C02-760B-4816-AD7B-0F90308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 solution replaces brittle keyword screening with grounded candidate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A3C2D-8FA2-4CCA-8EC3-CC02759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Traditional ATS matching can miss semantically relevant resumes and over-reward keyword stuffing. This pipeline retrieves resume evidence first, then asks the LLM to summarize only the grounded shortlist.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39A3E-5FB1-47E2-8852-B13520E9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BD396-2EC3-402D-BDBA-CA45875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Traditional matching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723F2-0EC7-4B64-A860-384565D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keyword overlap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F7CC7-D605-420B-9845-FCD181C7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static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ACE7C-B52F-4C4B-9372-3B3DB381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weak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4B98D-7490-4617-AD29-1E2C072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714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Exact word dependence misses equivalent terms.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Long JDs are flattened into simple filters.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Explanations can drift away from resume facts.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Suspicious or low-quality profiles are not surfaced.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67CB8-A0CE-491A-9E93-FAAD6DB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1C4AE-356E-4A47-A3F7-A12E17D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Proposed RAG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0C460-AC94-45F4-B2F7-0E60697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semantic FAISS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9A293-E94D-4655-808D-690FDE9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RAG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1AF7E-377D-4D63-9870-A58ACBBD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grounded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E7987-52FA-4159-998B-8B858B99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57600"/>
            <a:ext cx="3714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Sentence-transformer embeddings retrieve similar resumes.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Sub-queries cover different JD requirements.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Final score combines words, phrases, and skills.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Output includes evidence and data-quality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0F2C5-9424-418C-BECB-647C4F07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197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Differentiator: the LLM explains a ranked evidence pack; it does not independently invent or reorder candidates.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485C0-FDFA-4397-97E4-B49C62D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README.md; demo/llm_agent.py prompt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1333B-2019-4D15-A7A9-8DC0F70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15345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C6E7C-7EE1-45AA-9A1F-ADCB7365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E2E6599-2E84-4A19-BE8A-1EFB41D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3582945-0834-40E5-A3E3-7A540E2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END-TO-END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2BD7-8BDB-415A-8BDB-1B68AB3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 JD is converted into a ranked shortlist through five auditable stages.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42234-1E2C-4366-A8AE-9DE255D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Each stage produces a concrete intermediate artifact: query type, sub-queries, candidate IDs, scored resume contexts, and a streamed recruiter-facing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8CED-B180-4EC7-A835-E6B00E0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60493-6BA9-479E-9FF2-8AE79C2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681C7-53BA-4F6D-B12A-4EE72A57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1. JD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2C9B6-4951-42CE-8F71-3EFD5725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Hiring manager pastes role description or skill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C8457-EECF-4B1E-9062-E832EC0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24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0E729-48AD-4FEF-B7C9-0C7520F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FDB7B-A245-4982-AA1D-05587DD4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1689F-A38C-4281-9B39-F861394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2. Classify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E2F53-86E4-4ADE-917E-781564F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Rule-based router detects JD search, ID lookup, or general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A8CCA-EC7E-4270-B340-DA735074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AFDEA-6DD6-4D6E-ACB4-B715620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34420-D024-4EF7-B4E7-54B8BCF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0993D-0956-4729-8332-0A71C787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3. 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397C4-A6DC-42AE-8E89-C20C689B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2420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FAISS searches resume chunks; RAG Fusion expands complex JDs.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7EF77-F1DF-4223-BF6E-755BCEB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C2592-AF0A-4EAC-B461-6F52415E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EB4DF-598C-48FE-9CB1-9867BC3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830C3-DA77-4541-A238-A1FA4005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4.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0B6C9-2B0B-468E-B2EA-1AFE479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148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Full resumes are ranked by keyword, bigram, and skill-density signals.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14493-BD24-4E64-B4EE-8028C91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84BF8-0C2B-4572-9D49-DDB7263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2415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B969E-4C94-4734-9A8B-7F0FE31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24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F981C-6CDB-411D-A3AE-F25DD83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575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5. 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4CA47-B1D1-43A9-8DC9-F772881F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242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LLM summarizes only retrieved ranked candidates.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CF7BE-AA8B-4DBF-A4B0-9706353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52950"/>
            <a:ext cx="8839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F9FB6C-6EE1-440C-BFA3-863F7E54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86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Trace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DFFB3-C09C-429B-B6E6-D0D9F28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720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verbosity panel exposes query type, selected RAG mode, generated sub-queries, retrieved resume IDs, RRF scores, and elapsed time. This makes debugging and challenge review repeatable.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0BB8D-C30A-46F9-9A6C-8C5507B4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demo/interface.py; demo/chatbot_verbosity.py; demo/retriever.py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4FE353-05E4-4310-849F-2472BBB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520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4FC56-677A-41EF-907B-8825D8D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6845B335-D0D4-4735-82B7-2F37A62A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4159410-3404-45AE-9548-A1ECAE2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JD UNDERSTANDING AND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1B1E6-ABAD-42BD-8C3F-BCE2738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Candidate fit is evaluated as a bundle of role, skill, phrase, and evidence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BA38A-5478-46EB-9D60-609D59D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implementation keeps JD parsing lightweight and deterministic, then lets semantic retrieval handle natural-language variation.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BDD7-8239-437E-A673-8D5B81E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40218-71AD-4C92-9D5F-7EF6C295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DD352-B696-4026-A6F2-2F35FEF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Role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976FC-B346-438E-BC35-879FF3C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developer, engineer, analyst, designer, manager, role,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DB846-F45E-402A-9F32-9134B1BA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384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ADE1B-CF77-47BD-BA13-C10FF5D3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384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B86B1-A75C-427C-A7E3-ED37468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289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Hard skills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AC695-C948-4B3F-910E-40CF030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Python, Java, React, SQL, ML, TensorFlow, AWS, Docker, Scrum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AB498-20A8-4AF3-9479-D54A906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E703F-AB17-4E23-856D-A4A8B07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BEA9C-8ECB-4E92-8064-233EFADE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81B14-4CFB-4205-A90E-7535DB4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years of experience, seniority terms, hands-on delivery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1BEA6-214E-4A89-AE03-A0CA2C46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00CD7-45A5-43F8-98AE-DFB83B0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7A522-24E6-4E36-B6DF-927CF27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Domain/tools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9CF9E-4220-453F-BBF7-7A4440F7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frameworks, databases, cloud, DevOps, product area, industry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04D9A-F967-4D3A-ACD0-104CEA8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38400"/>
            <a:ext cx="1809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9C07D-FD19-45DF-AE75-807C076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384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7419A-24A5-4096-9740-847B2D3E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289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Soft signals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7E4EF-72DB-43E7-9D0B-7B4D06B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28950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communication, collaboration, ownership, problem solving, availability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3DE5E-6A1D-4958-B657-6DA2B30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998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B6D30-F43B-4B86-8CA8-D1A2C72A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95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Beyond keyword matching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B822B-8C50-4D56-B1C1-312866DA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FAISS captures semantic similarity, bigrams preserve phrases such as machine learning, skill density breaks ties, and evidence snippets keep the recommendation auditable.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3C93C-0262-4D53-8FC8-7FABA9F4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semantic match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33C41-2EF9-4F2C-9E48-D2F9249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phrase 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5DF21-BF05-4531-AFFD-CA32C5CC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skill density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A40CB-CAEF-4584-A29C-54E9A20F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demo/retriever.py SKILLS, JD_KEYWORDS, compute_score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80BE3C-054A-4E28-B4DC-8E70C58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03705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9AE09-550C-442E-8817-E429378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E874C707-64FD-4FB5-87A8-C501C9D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7D35BAB-6465-4662-AE96-36D94B8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RANKING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73E16-2922-430A-B281-C577C43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 final ranking blends semantic retrieval with transparent presentation scoring.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74A23-E9CE-455C-AF02-2C105D0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FAISS finds candidates; reciprocal-rank fusion merges sub-query lists; compute_score makes the displayed order interpretable.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CB4B6-0641-433E-8550-CC0F88A0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97225-CEAF-415B-9A39-E6795C7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1. Semantic 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9B48D-C9E0-4B93-AE2F-3EFFF6C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similarity_search_with_score(question, k=5)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69F11-0D0E-4FD4-8131-311B9C4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2D974-DA05-4FFB-BA4D-F33077B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37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2. RAG Fusion merge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A1DC4-E6AA-410A-865B-C77CE47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28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RRF adds 1 / (rank + 50) across original and generated sub-queries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D1E9B-785C-4B1A-94D8-A5CD655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00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B915-8B1C-4BC7-BF08-DBB035A5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766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3. Full resume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7D369-1250-4718-AB2B-D19E352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candidate IDs are mapped back to full resume text from the dataframe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2C685-00F2-46A1-9C9B-23A1901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1F0C7-3E09-48B1-946A-9DD387B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96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4. Final presentation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DD7FF-0559-471E-9619-DF8EEAE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38700"/>
            <a:ext cx="413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unigram overlap + 2x bigram overlap + up to 2 point skill-density bonus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3C7DF-6531-4B40-ADFC-6877F49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361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4285B-648A-4D32-8D1A-C18762B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Final score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63B61-059E-4741-8E44-8D90964B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54D57-F82E-4270-9EF8-F3E87465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t>((unigram hits + 2 x bigram hits) / query terms) x 100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t>+ skill-density bonus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D674C-2856-46F8-976D-924CDAC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Why this matters: recruiters see a stable, explainable score while the vector index still handles semantic discovery.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04855-0263-4AEE-8EB4-C3BF2F7A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RAGRetriever.__reciprocal_rank_fusion__; compute_score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636A0-C221-49C4-8901-9C501EC3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00859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663A1-F7D6-48B6-914F-CAC65AE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813045D-7F24-4107-A7E1-D8DB54E2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88E4AD0-98C2-41C9-8396-0EF1E38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EXPLAINABILITY AND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4C060-BEF1-4D44-9174-99813AE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Explanations are grounded in retrieved resumes and guarded by explicit quality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3E720-B8AE-4099-81F3-494C8F7A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LLM receives formatted candidate context with applicant ID, match score, skills, and resume text, then follows strict response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43C54-5D6A-41DF-8A8C-26050CAF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8124D-9329-4FA7-AEF5-B14186C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Retrieved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1FBE0-F231-44D4-88B2-0C11179A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Applicant ID, score, skills, full resume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49CBE-8430-4F4A-962B-3822534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2D628-5CA9-4EF3-B4BC-4677C672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55D4C-03E9-4156-82F8-EE07DAB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Constrained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6B6DE-3CF8-46F3-BD79-BC467142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Do not reorder. Do not invent extra candidates. Preserve IDs and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CF846-1FA9-4A63-8813-F8F743DE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A708D-7970-4751-A21B-6E024898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8C860-409F-43B0-9B69-8B6B6A9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Explainable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1E0BB-8B55-4E4E-8364-B46B0C49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Top candidates, best candidate, and reasons backed by retrieved 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3A40E-82B2-43C4-B080-99CB5C9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81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E11D1-BFEA-4563-B9FF-ACAFE9D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67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Data validation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D04D3-8CB1-4B57-B353-4F346629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short_resume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435A3-463E-43C1-881F-E1B2657C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67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no_skill_match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871CD-AE53-494D-8303-5DC96C69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673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placeholder_contact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9F10C-286C-4232-84DA-B66E49B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673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weak_structure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EEBED-B5CC-457A-B5C4-FEDF1FA0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Suspicious or low-quality profiles remain in the output but are flagged for review instead of silently dropped.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338CE-0DA8-4C32-8BFB-3B4CB7C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demo/llm_agent.py; ranked workbook data flags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C4011-1EC7-485E-9BAC-49E98A8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746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2EAB4-3C39-4E7C-913D-63BC6F5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DA0FD2F7-F935-431A-8EAC-F4FBF9A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4425306-E6EC-47BD-A9C1-DFC716A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5A0B4-21DD-4DD8-B25F-8ECDA94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 architecture separates UI state, retrieval, scoring, and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4A6F-E920-4AD6-AFFA-D61CEF8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This keeps the expensive embedding/vectorstore objects cached while allowing user-controlled model and RAG-mode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5750-FFFC-4868-8E1E-F0B9408B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D6CAF-5A55-4CEB-8341-654094A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Streamlit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F3546-EA70-4E51-AF07-BB02BBB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chat input, model selector, CSV/PDF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4C1B-9EF9-45DA-AE39-77BDCE3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427EF-B62E-4049-A54B-25F1549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Session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B4630-C362-474A-94F5-A34CBF0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cached embeddings, dataframe, retriever,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58F01-ADC1-43AF-BE17-D3CB1CF1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E3C10-31CC-462F-AC1A-0122C426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0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Query 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E243D-8EF1-4B21-B947-7B80C7DD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JD search, applicant ID lookup, general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D0280-FCC0-4799-870F-C7BC3CC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34CDA-80E4-4841-8C2D-1404356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FAISS vectorstore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5AAB5-3F62-4F8B-8E60-1658C673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sentence-transformer resume chunk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324E9-E256-46DC-A73E-2AD8F0B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957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81032-AAF7-4727-9630-5B3034B8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00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Ranking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D1191-5BD4-452A-9132-A753F4B6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957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RRF, score blend, skill extraction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52B69-9085-4503-88F6-163C73B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D386B-A38C-4B71-94A9-CF5CE279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LLM provider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9A43A-3FBC-4D36-BA1F-798921C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Ollama local or Gemini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6189E-9127-4DB5-BF67-2FAA627C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64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71AFE-3C08-47C8-8CAE-CDE8E9B5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Verbosity trace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1D6AF-70FD-47DB-941C-9F4F580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sub-queries, scores, elapsed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E7D16-7866-471A-B4CB-B9B4C5A1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860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6C57E-D942-4936-B828-48E8F30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75E76-D998-4A3F-BBA6-FC6241D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92500-CE25-4285-82B4-A0931CA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6478E-5FC5-43D5-B75B-C07FDC5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38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43251-83D9-4936-AAA6-E03E05E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2667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8741B-EA74-41F5-A19D-4F0031F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48200"/>
            <a:ext cx="2667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76500" y="2800350"/>
            <a:ext cx="6667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76500" y="3200400"/>
            <a:ext cx="66675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4953000" y="2800350"/>
            <a:ext cx="6858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638925" y="32385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39050" y="41338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248775" y="4572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dash"/>
            <a:head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12C29-F98A-498D-B093-0CD6736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demo/interface.py runtime architecture and session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319554-6E41-47F9-BAE4-265B590B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01325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1440C9-CB83-493A-B4DC-E9A59C8F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DD6BCDB-4FB1-4195-8911-0269BE7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140CC91E-D807-4E5D-B9FF-AD5FB073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RESULTS AND TECHNOLOGIES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09EBC-29F5-419B-AD3B-AFE4C8E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Evaluation outputs show strong grounding, and the stack stays laptop-friendly.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11C25-1F6D-422B-89C4-22E796B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The best available run is GPT-4 + RAG Fusion over 500 evaluation rows; the runnable demo also supports fully local Ollama inference.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97163-671A-434E-8549-A3AAD1B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83AD-9296-4F7B-80F6-F102D74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0.793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8B3A6-BEE3-44FB-9ABE-944EAF3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Context 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5430D-DDCB-433E-92D0-B2D50706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mean over 500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CA2B8-12BE-4A50-B9B0-AB3E14B2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0B7E6-51C4-41F9-8AE6-EFAD29E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0.843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C980F-CFC1-41D0-B117-99718A9F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Context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37952-222A-45CF-AA52-992B8D7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mean over 500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39686-3137-4421-A902-E41B64AD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38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6B3CA-FBFC-404F-B163-A3BA657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0.945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C843C-3E6E-4255-A474-51C0816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Faithfulness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11B82-9EC8-4F4C-8CF1-A3F3587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04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mean over 500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D2E9C-CD2B-4227-92D7-90990BB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EAE80-0CF4-4583-BB8E-CA2E3AE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0.733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4699E-ED26-4B3C-9A00-DEB8425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Answer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25F8F-8506-4772-880C-DCE9173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mean over 500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BF5FC-500A-40C5-AA8D-E127CDA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953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B2CD0-3DBE-44F1-BB80-2DC5D57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Runtime and compute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88727-394D-487B-9B06-A8C57AF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FAISS enables fast local approximate nearest-neighbor search.</a:t>
            </a:r>
          </a:p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all-MiniLM-L6-v2 keeps embeddings CPU-friendly.</a:t>
            </a:r>
          </a:p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Streamlit caches session objects to avoid repeated model/index loads.</a:t>
            </a:r>
          </a:p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- Ollama option supports offline/local demo runs.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4C523-81DA-4377-9A1B-4BBF12F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4724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32A92-F25A-4C0D-B3FB-FE9243AB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Technologies selected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DB2FD-354D-451B-B4B2-7D4AA82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Streamlit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5C114-66A4-420C-9114-025CFB76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FAISS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C7ED2-3277-4192-B732-1DF0CB9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529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LangChain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83FAC-004D-4259-9E3E-D8ACEBB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529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Ollama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AAF7D-351F-426C-A1C4-F3368373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Gemini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49008-6B7B-4CA9-ACCA-3DCE746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sentence-transformers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BC2FA-1012-4A4A-B3CE-1D2AC8D8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Pandas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F28EA5-84C2-4E8B-9FE7-89FFDC9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Submission assets: public GitHub repository, this deck exported to PDF, and ranked_candidate_output.xlsx.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A8E0E-41F8-43A4-B640-2DDF6430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Sources: requirements.txt; local evaluation CSV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81DC5-FF7E-43A4-9733-74A99A4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2449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2026-06-09T19:44:27.5450000Z</dcterms:created>
  <dcterms:modified xsi:type="dcterms:W3CDTF">2026-06-09T19:44:27.5450000Z</dcterms:modified>
</coreProperties>
</file>